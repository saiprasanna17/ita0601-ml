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226B-199F-40CE-9126-3A9CDE078DF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AA1E998-5AB4-484B-80A5-164C8E21BEE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3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226B-199F-40CE-9126-3A9CDE078DF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E998-5AB4-484B-80A5-164C8E21BEE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06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226B-199F-40CE-9126-3A9CDE078DF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E998-5AB4-484B-80A5-164C8E21BEE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946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226B-199F-40CE-9126-3A9CDE078DF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E998-5AB4-484B-80A5-164C8E21BEED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502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226B-199F-40CE-9126-3A9CDE078DF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E998-5AB4-484B-80A5-164C8E21BEED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01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226B-199F-40CE-9126-3A9CDE078DF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E998-5AB4-484B-80A5-164C8E21BEED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745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226B-199F-40CE-9126-3A9CDE078DF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E998-5AB4-484B-80A5-164C8E21B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174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226B-199F-40CE-9126-3A9CDE078DF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E998-5AB4-484B-80A5-164C8E21BEED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21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8C226B-199F-40CE-9126-3A9CDE078DF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E998-5AB4-484B-80A5-164C8E21BEED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01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226B-199F-40CE-9126-3A9CDE078DF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E998-5AB4-484B-80A5-164C8E21BEED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34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C226B-199F-40CE-9126-3A9CDE078DF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E998-5AB4-484B-80A5-164C8E21BEE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755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C226B-199F-40CE-9126-3A9CDE078DF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AA1E998-5AB4-484B-80A5-164C8E21BEE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19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picciano.commons.gc.cuny.edu/2019/11/27/tonys-thoughts-tenth-anniversar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088AFDE1-1A8B-EECA-7BFB-C203A5858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81" y="167149"/>
            <a:ext cx="11798709" cy="137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87BD34-B328-3FEA-2F42-BDDD31C18F19}"/>
              </a:ext>
            </a:extLst>
          </p:cNvPr>
          <p:cNvSpPr txBox="1"/>
          <p:nvPr/>
        </p:nvSpPr>
        <p:spPr>
          <a:xfrm>
            <a:off x="1553497" y="2054942"/>
            <a:ext cx="75978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Learning and Representation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4F003-EC12-9D57-AD67-427DB9366FE4}"/>
              </a:ext>
            </a:extLst>
          </p:cNvPr>
          <p:cNvSpPr txBox="1"/>
          <p:nvPr/>
        </p:nvSpPr>
        <p:spPr>
          <a:xfrm>
            <a:off x="6400800" y="3889657"/>
            <a:ext cx="4945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S.Sri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 Prasanna Durga (192424241)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ITA0601-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085889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B90519-E182-605B-41E2-896B1BE27B5E}"/>
              </a:ext>
            </a:extLst>
          </p:cNvPr>
          <p:cNvSpPr txBox="1"/>
          <p:nvPr/>
        </p:nvSpPr>
        <p:spPr>
          <a:xfrm>
            <a:off x="3608439" y="334297"/>
            <a:ext cx="4586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355B3-B98A-542E-53D6-F660392E625F}"/>
              </a:ext>
            </a:extLst>
          </p:cNvPr>
          <p:cNvSpPr txBox="1"/>
          <p:nvPr/>
        </p:nvSpPr>
        <p:spPr>
          <a:xfrm>
            <a:off x="255639" y="1150374"/>
            <a:ext cx="6204155" cy="511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Learning is a supervised machine learning algorithm used to solve classification and regression problems.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builds a tree-like model that represents decisions and their possible outcomes.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starts with a root node, where the most important feature is selected for splitting the data.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 internal node represents a test or condition on a feature.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 branch represents the outcome of a decision or test.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 leaf node represents the final predicted class or output value.</a:t>
            </a: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https://images.openai.com/static-rsc-4/RkczmeM-RDDmebyTrwq-8ORy2e0B69sqbKWkuMc1mUMvdhJkPRpS3ZLNHwmGFDhKIFOxzG_xuetm3KRbKC6-9BpNhtsD-sMTKVtX8bQUtQRj_fRQuCHLXHmeZPeuj8rbytBYz9jIYrMvZnwdSu7up_Gr8DjROS0Ch9IKVxrSI9wWm-c7-dTdrohb0U4nrbQb?purpose=fullsize">
            <a:extLst>
              <a:ext uri="{FF2B5EF4-FFF2-40B4-BE49-F238E27FC236}">
                <a16:creationId xmlns:a16="http://schemas.microsoft.com/office/drawing/2014/main" id="{D99495A5-CBA1-5779-2C13-53093A576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605" y="1700981"/>
            <a:ext cx="5142271" cy="328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00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305F94-8AED-7B17-AF84-DC2EA2B6A10A}"/>
              </a:ext>
            </a:extLst>
          </p:cNvPr>
          <p:cNvSpPr txBox="1"/>
          <p:nvPr/>
        </p:nvSpPr>
        <p:spPr>
          <a:xfrm>
            <a:off x="2045111" y="255639"/>
            <a:ext cx="7885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OF DECISION TREE LEARNING</a:t>
            </a:r>
          </a:p>
        </p:txBody>
      </p:sp>
      <p:pic>
        <p:nvPicPr>
          <p:cNvPr id="3" name="Picture 2" descr="Flowchart of the Decision Tree model | Download Scientific Diagram">
            <a:extLst>
              <a:ext uri="{FF2B5EF4-FFF2-40B4-BE49-F238E27FC236}">
                <a16:creationId xmlns:a16="http://schemas.microsoft.com/office/drawing/2014/main" id="{41AB4DE6-26E0-A500-0C14-EFF388444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471" y="973394"/>
            <a:ext cx="5378245" cy="468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960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BBEDAC-2266-97AA-809E-7977581DF80E}"/>
              </a:ext>
            </a:extLst>
          </p:cNvPr>
          <p:cNvSpPr txBox="1"/>
          <p:nvPr/>
        </p:nvSpPr>
        <p:spPr>
          <a:xfrm>
            <a:off x="2015613" y="363794"/>
            <a:ext cx="8681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7ADDF-17F7-F70E-D156-03AA18017B0D}"/>
              </a:ext>
            </a:extLst>
          </p:cNvPr>
          <p:cNvSpPr txBox="1"/>
          <p:nvPr/>
        </p:nvSpPr>
        <p:spPr>
          <a:xfrm>
            <a:off x="285135" y="1199536"/>
            <a:ext cx="980276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the process of representing learned knowledge in a tree-like structure using nodes and branches.</a:t>
            </a: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tree converts data into simple IF–THEN decision rules that are easy to understand and interpret.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B5350-8F6A-49A4-21E0-5D96DA441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226" y="2389238"/>
            <a:ext cx="6440129" cy="302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951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68F3DF-B649-422B-35EA-3617D675EBEB}"/>
              </a:ext>
            </a:extLst>
          </p:cNvPr>
          <p:cNvSpPr txBox="1"/>
          <p:nvPr/>
        </p:nvSpPr>
        <p:spPr>
          <a:xfrm>
            <a:off x="432620" y="353962"/>
            <a:ext cx="2930012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8D58B-F556-0081-AD7A-E04125AA2EA2}"/>
              </a:ext>
            </a:extLst>
          </p:cNvPr>
          <p:cNvSpPr txBox="1"/>
          <p:nvPr/>
        </p:nvSpPr>
        <p:spPr>
          <a:xfrm>
            <a:off x="363794" y="1111045"/>
            <a:ext cx="878758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Entropy measures the impurity or randomness of the dataset.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B90BC-693E-295F-8D06-7E5D04409679}"/>
              </a:ext>
            </a:extLst>
          </p:cNvPr>
          <p:cNvSpPr txBox="1"/>
          <p:nvPr/>
        </p:nvSpPr>
        <p:spPr>
          <a:xfrm>
            <a:off x="2399071" y="1746236"/>
            <a:ext cx="67523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Formula: </a:t>
            </a:r>
            <a:r>
              <a:rPr lang="pl-PL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Entropy(S)</a:t>
            </a:r>
          </a:p>
          <a:p>
            <a:endParaRPr lang="pl-PL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- Σ pi log₂(pi)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308D99-E38E-8924-66A9-ED041A80B5DF}"/>
              </a:ext>
            </a:extLst>
          </p:cNvPr>
          <p:cNvSpPr txBox="1"/>
          <p:nvPr/>
        </p:nvSpPr>
        <p:spPr>
          <a:xfrm>
            <a:off x="432620" y="2877460"/>
            <a:ext cx="87187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 = Probability of each class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A32B4B-EAF3-3F21-5822-74930125722D}"/>
              </a:ext>
            </a:extLst>
          </p:cNvPr>
          <p:cNvSpPr txBox="1"/>
          <p:nvPr/>
        </p:nvSpPr>
        <p:spPr>
          <a:xfrm>
            <a:off x="432620" y="3677677"/>
            <a:ext cx="3854245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F2DDF0-7435-ECCE-B48D-EC459D2CE081}"/>
              </a:ext>
            </a:extLst>
          </p:cNvPr>
          <p:cNvSpPr txBox="1"/>
          <p:nvPr/>
        </p:nvSpPr>
        <p:spPr>
          <a:xfrm>
            <a:off x="432620" y="4411530"/>
            <a:ext cx="8718753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 measures how much uncertainty is reduced after splitting.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415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A43C71-C1FE-6008-8CEE-8310888B890E}"/>
              </a:ext>
            </a:extLst>
          </p:cNvPr>
          <p:cNvSpPr txBox="1"/>
          <p:nvPr/>
        </p:nvSpPr>
        <p:spPr>
          <a:xfrm>
            <a:off x="1907459" y="245807"/>
            <a:ext cx="7794522" cy="1027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buNone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</a:p>
          <a:p>
            <a:pPr marL="0" marR="0" indent="0" algn="l" rtl="0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 = Entropy(Parent) − Weighted Entropy(Children)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CA214-DC55-6132-E2E9-72A143ECA7C9}"/>
              </a:ext>
            </a:extLst>
          </p:cNvPr>
          <p:cNvSpPr txBox="1"/>
          <p:nvPr/>
        </p:nvSpPr>
        <p:spPr>
          <a:xfrm>
            <a:off x="226142" y="1582994"/>
            <a:ext cx="3952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PRUNING: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624CE-4D1B-CE0C-3EB9-D794AF207877}"/>
              </a:ext>
            </a:extLst>
          </p:cNvPr>
          <p:cNvSpPr txBox="1"/>
          <p:nvPr/>
        </p:nvSpPr>
        <p:spPr>
          <a:xfrm>
            <a:off x="314633" y="2133600"/>
            <a:ext cx="8836742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pruning removes unnecessary branches.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8603CF-906C-56D7-A90E-E290754F7C63}"/>
              </a:ext>
            </a:extLst>
          </p:cNvPr>
          <p:cNvSpPr txBox="1"/>
          <p:nvPr/>
        </p:nvSpPr>
        <p:spPr>
          <a:xfrm>
            <a:off x="314632" y="2904991"/>
            <a:ext cx="8836742" cy="2774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</a:p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1.Pre-Pruning</a:t>
            </a:r>
          </a:p>
          <a:p>
            <a:pPr indent="0" algn="l">
              <a:lnSpc>
                <a:spcPct val="150000"/>
              </a:lnSpc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Stops tree growth early.</a:t>
            </a:r>
          </a:p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2.Post-Pruning</a:t>
            </a:r>
          </a:p>
          <a:p>
            <a:pPr indent="0" algn="l">
              <a:lnSpc>
                <a:spcPct val="150000"/>
              </a:lnSpc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complete tree and remove unnecessary branches.</a:t>
            </a:r>
          </a:p>
        </p:txBody>
      </p:sp>
    </p:spTree>
    <p:extLst>
      <p:ext uri="{BB962C8B-B14F-4D97-AF65-F5344CB8AC3E}">
        <p14:creationId xmlns:p14="http://schemas.microsoft.com/office/powerpoint/2010/main" val="196500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444BA-2C6A-6A5F-A145-D9AF0B318C7C}"/>
              </a:ext>
            </a:extLst>
          </p:cNvPr>
          <p:cNvSpPr txBox="1"/>
          <p:nvPr/>
        </p:nvSpPr>
        <p:spPr>
          <a:xfrm>
            <a:off x="285135" y="521110"/>
            <a:ext cx="4434349" cy="2712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indent="0" algn="l">
              <a:lnSpc>
                <a:spcPct val="150000"/>
              </a:lnSpc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Easy to understand</a:t>
            </a:r>
          </a:p>
          <a:p>
            <a:pPr indent="0" algn="l">
              <a:lnSpc>
                <a:spcPct val="150000"/>
              </a:lnSpc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Easy to visualize</a:t>
            </a:r>
          </a:p>
          <a:p>
            <a:pPr indent="0" algn="l">
              <a:lnSpc>
                <a:spcPct val="150000"/>
              </a:lnSpc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Handles numerical and categorical data</a:t>
            </a:r>
          </a:p>
          <a:p>
            <a:pPr indent="0" algn="l">
              <a:lnSpc>
                <a:spcPct val="150000"/>
              </a:lnSpc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No data normalization required</a:t>
            </a:r>
          </a:p>
          <a:p>
            <a:pPr indent="0" algn="l">
              <a:lnSpc>
                <a:spcPct val="150000"/>
              </a:lnSpc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Fast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757DF0-CE45-1146-51C7-6A7361482D52}"/>
              </a:ext>
            </a:extLst>
          </p:cNvPr>
          <p:cNvSpPr txBox="1"/>
          <p:nvPr/>
        </p:nvSpPr>
        <p:spPr>
          <a:xfrm>
            <a:off x="6095999" y="535174"/>
            <a:ext cx="5142271" cy="2258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noisy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become very large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accuracy than ensemble 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372AF-55CD-727A-FF27-47E59C826DA6}"/>
              </a:ext>
            </a:extLst>
          </p:cNvPr>
          <p:cNvSpPr txBox="1"/>
          <p:nvPr/>
        </p:nvSpPr>
        <p:spPr>
          <a:xfrm>
            <a:off x="3382298" y="3233262"/>
            <a:ext cx="5378244" cy="3089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Diagnosis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Email Classification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31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3D17A-1CA1-8497-CDEB-0FB1756BDA32}"/>
              </a:ext>
            </a:extLst>
          </p:cNvPr>
          <p:cNvSpPr txBox="1"/>
          <p:nvPr/>
        </p:nvSpPr>
        <p:spPr>
          <a:xfrm>
            <a:off x="196645" y="1140542"/>
            <a:ext cx="8954729" cy="3807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l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are one of the most popular supervised learning algorithms.</a:t>
            </a:r>
          </a:p>
          <a:p>
            <a:pPr marL="342900" marR="0" indent="-342900" algn="l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use Entropy and Information Gain to build an optimal tree.</a:t>
            </a:r>
          </a:p>
          <a:p>
            <a:pPr marL="342900" marR="0" indent="-342900" algn="l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Pruning improves generalization and reduces overfitting.</a:t>
            </a:r>
          </a:p>
          <a:p>
            <a:pPr marL="342900" marR="0" indent="-342900" algn="l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are widely used for classification and decision-making because they are simple, interpretable, and effective.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DBEAA0-A1B9-69E1-41D2-714E0CD75F1B}"/>
              </a:ext>
            </a:extLst>
          </p:cNvPr>
          <p:cNvSpPr txBox="1"/>
          <p:nvPr/>
        </p:nvSpPr>
        <p:spPr>
          <a:xfrm>
            <a:off x="3519949" y="314632"/>
            <a:ext cx="3608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  <a:spcAft>
                <a:spcPts val="300"/>
              </a:spcAft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71578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7E911C-43F6-AC25-3686-4028876D7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5953"/>
            <a:ext cx="12192000" cy="686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0045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46</TotalTime>
  <Words>345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Gill Sans MT</vt:lpstr>
      <vt:lpstr>Times New Roman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sudinasaiprasanna@gmail.com</dc:creator>
  <cp:lastModifiedBy>sudinasaiprasanna@gmail.com</cp:lastModifiedBy>
  <cp:revision>2</cp:revision>
  <dcterms:created xsi:type="dcterms:W3CDTF">2026-07-24T10:31:38Z</dcterms:created>
  <dcterms:modified xsi:type="dcterms:W3CDTF">2026-07-24T11:17:49Z</dcterms:modified>
</cp:coreProperties>
</file>